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53135" y="1122680"/>
            <a:ext cx="9913620" cy="2387600"/>
          </a:xfrm>
        </p:spPr>
        <p:txBody>
          <a:bodyPr>
            <a:normAutofit/>
          </a:bodyPr>
          <a:lstStyle/>
          <a:p>
            <a:r>
              <a:rPr lang="en-US" altLang="en-US" b="1" dirty="0"/>
              <a:t>Deep Learning Pipeline for SNV Functional Impact Classification</a:t>
            </a:r>
            <a:endParaRPr lang="en-US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sz="3200">
                <a:latin typeface="+mj-lt"/>
                <a:cs typeface="+mj-lt"/>
              </a:rPr>
              <a:t>Classifying Human Single Nucleotide Variants as Deleterious or Neutral</a:t>
            </a:r>
            <a:endParaRPr lang="en-US" altLang="en-US" sz="3200"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12190"/>
            <a:ext cx="10515600" cy="2077085"/>
          </a:xfrm>
        </p:spPr>
        <p:txBody>
          <a:bodyPr>
            <a:noAutofit/>
          </a:bodyPr>
          <a:p>
            <a:r>
              <a:rPr lang="en-US" altLang="en-US" b="1" dirty="0"/>
              <a:t>Goal: Predict whether a single nucleotide variant (SNV) is deleterious or neutral based on its sequence and annotation features.</a:t>
            </a:r>
            <a:endParaRPr lang="en-US" alt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487420"/>
            <a:ext cx="10515600" cy="2689860"/>
          </a:xfrm>
        </p:spPr>
        <p:txBody>
          <a:bodyPr/>
          <a:p>
            <a:r>
              <a:rPr lang="en-US" altLang="en-US"/>
              <a:t>- Approach: Use public genomic data, extract features, and train a deep learning model.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>
              <a:buClrTx/>
              <a:buSzTx/>
              <a:buFontTx/>
            </a:pPr>
            <a:r>
              <a:rPr lang="en-US" altLang="en-US" sz="6000" b="1" dirty="0"/>
              <a:t> Data Acquisition</a:t>
            </a:r>
            <a:endParaRPr lang="en-US" alt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Source: ClinVar public database (VCF, GRCh38)</a:t>
            </a:r>
            <a:endParaRPr lang="en-US" altLang="en-US"/>
          </a:p>
          <a:p>
            <a:r>
              <a:rPr lang="en-US" altLang="en-US"/>
              <a:t>- Reference: Human genome (GRCh38 FASTA)</a:t>
            </a:r>
            <a:endParaRPr lang="en-US" altLang="en-US"/>
          </a:p>
          <a:p>
            <a:r>
              <a:rPr lang="en-US" altLang="en-US"/>
              <a:t>- Process:</a:t>
            </a:r>
            <a:endParaRPr lang="en-US" altLang="en-US"/>
          </a:p>
          <a:p>
            <a:r>
              <a:rPr lang="en-US" altLang="en-US"/>
              <a:t>  - Download VCF from ClinVar</a:t>
            </a:r>
            <a:endParaRPr lang="en-US" altLang="en-US"/>
          </a:p>
          <a:p>
            <a:r>
              <a:rPr lang="en-US" altLang="en-US"/>
              <a:t>  - Download reference genome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pPr algn="ctr">
              <a:buClrTx/>
              <a:buSzTx/>
              <a:buFontTx/>
            </a:pPr>
            <a:r>
              <a:rPr lang="en-US" altLang="en-US" sz="6000" b="1" dirty="0"/>
              <a:t>Preprocessing &amp; Feature Extraction</a:t>
            </a:r>
            <a:endParaRPr lang="en-US" alt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Parse VCF for SNPs</a:t>
            </a:r>
            <a:endParaRPr lang="en-US" altLang="en-US"/>
          </a:p>
          <a:p>
            <a:r>
              <a:rPr lang="en-US" altLang="en-US"/>
              <a:t>- Map SNPs to GRCh38 genome</a:t>
            </a:r>
            <a:endParaRPr lang="en-US" altLang="en-US"/>
          </a:p>
          <a:p>
            <a:r>
              <a:rPr lang="en-US" altLang="en-US"/>
              <a:t>- Extract 10bp context (5bp upstream, SNP, 4bp downstream)</a:t>
            </a:r>
            <a:endParaRPr lang="en-US" altLang="en-US"/>
          </a:p>
          <a:p>
            <a:r>
              <a:rPr lang="en-US" altLang="en-US"/>
              <a:t>- Compute features:</a:t>
            </a:r>
            <a:endParaRPr lang="en-US" altLang="en-US"/>
          </a:p>
          <a:p>
            <a:r>
              <a:rPr lang="en-US" altLang="en-US"/>
              <a:t>  - Shannon entropy</a:t>
            </a:r>
            <a:endParaRPr lang="en-US" altLang="en-US"/>
          </a:p>
          <a:p>
            <a:r>
              <a:rPr lang="en-US" altLang="en-US"/>
              <a:t>  - GC content (%)</a:t>
            </a:r>
            <a:endParaRPr lang="en-US" altLang="en-US"/>
          </a:p>
          <a:p>
            <a:r>
              <a:rPr lang="en-US" altLang="en-US"/>
              <a:t>  - AT content (%)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6000" b="1" dirty="0"/>
              <a:t>Feature Engineering</a:t>
            </a:r>
            <a:endParaRPr lang="en-US" alt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- Encode categorical features:</a:t>
            </a:r>
            <a:endParaRPr lang="en-US" altLang="en-US"/>
          </a:p>
          <a:p>
            <a:r>
              <a:rPr lang="en-US" altLang="en-US"/>
              <a:t>  - Chromosome, Ref, Alt, Variant Type</a:t>
            </a:r>
            <a:endParaRPr lang="en-US" altLang="en-US"/>
          </a:p>
          <a:p>
            <a:r>
              <a:rPr lang="en-US" altLang="en-US"/>
              <a:t>- One-hot encode sequence context</a:t>
            </a:r>
            <a:endParaRPr lang="en-US" altLang="en-US"/>
          </a:p>
          <a:p>
            <a:r>
              <a:rPr lang="en-US" altLang="en-US"/>
              <a:t>- Combine all features into a numeric matrix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 </a:t>
            </a:r>
            <a:r>
              <a:rPr lang="en-US" altLang="en-US" sz="6000" b="1" dirty="0"/>
              <a:t>Model Architecture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- Feedforward Artificial Neural Network (ANN)</a:t>
            </a:r>
            <a:endParaRPr lang="en-US" altLang="en-US"/>
          </a:p>
          <a:p>
            <a:r>
              <a:rPr lang="en-US" altLang="en-US"/>
              <a:t>- Input: Combined features</a:t>
            </a:r>
            <a:endParaRPr lang="en-US" altLang="en-US"/>
          </a:p>
          <a:p>
            <a:r>
              <a:rPr lang="en-US" altLang="en-US"/>
              <a:t>- Hidden layer(s) with ReLU and dropout</a:t>
            </a:r>
            <a:endParaRPr lang="en-US" altLang="en-US"/>
          </a:p>
          <a:p>
            <a:r>
              <a:rPr lang="en-US" altLang="en-US"/>
              <a:t>- Output: Deleterious vs. Neutral classification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>
              <a:buClrTx/>
              <a:buSzTx/>
              <a:buFontTx/>
            </a:pPr>
            <a:r>
              <a:rPr lang="en-US" altLang="en-US" sz="6000" b="1" dirty="0"/>
              <a:t>Training &amp; Evaluation</a:t>
            </a:r>
            <a:endParaRPr lang="en-US" alt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- Train/test split</a:t>
            </a:r>
            <a:endParaRPr lang="en-US" altLang="en-US"/>
          </a:p>
          <a:p>
            <a:r>
              <a:rPr lang="en-US" altLang="en-US"/>
              <a:t>- Training: Cross-entropy loss, Adam optimizer</a:t>
            </a:r>
            <a:endParaRPr lang="en-US" altLang="en-US"/>
          </a:p>
          <a:p>
            <a:r>
              <a:rPr lang="en-US" altLang="en-US"/>
              <a:t>- Evaluation metrics:</a:t>
            </a:r>
            <a:endParaRPr lang="en-US" altLang="en-US"/>
          </a:p>
          <a:p>
            <a:r>
              <a:rPr lang="en-US" altLang="en-US"/>
              <a:t>  - Accuracy</a:t>
            </a:r>
            <a:endParaRPr lang="en-US" altLang="en-US"/>
          </a:p>
          <a:p>
            <a:r>
              <a:rPr lang="en-US" altLang="en-US"/>
              <a:t>  - Precision, Recall, F1-score</a:t>
            </a:r>
            <a:endParaRPr lang="en-US" altLang="en-US"/>
          </a:p>
          <a:p>
            <a:r>
              <a:rPr lang="en-US" altLang="en-US"/>
              <a:t>  - Confusion matrix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6000" b="1" dirty="0"/>
              <a:t>Results &amp; Visualization</a:t>
            </a:r>
            <a:endParaRPr lang="en-US" alt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 altLang="en-US"/>
          </a:p>
          <a:p>
            <a:r>
              <a:rPr lang="en-US" altLang="en-US"/>
              <a:t>- Test accuracy and classification report</a:t>
            </a:r>
            <a:endParaRPr lang="en-US" altLang="en-US"/>
          </a:p>
          <a:p>
            <a:r>
              <a:rPr lang="en-US" altLang="en-US"/>
              <a:t>- Confusion matrix plot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6000" b="1" dirty="0">
                <a:sym typeface="+mn-ea"/>
              </a:rPr>
              <a:t>References</a:t>
            </a:r>
            <a:endParaRPr lang="en-US" altLang="en-US" sz="6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- ClinVar, NCBI, Ensembl</a:t>
            </a:r>
            <a:endParaRPr lang="en-US" altLang="en-US"/>
          </a:p>
          <a:p>
            <a:r>
              <a:rPr lang="en-US" altLang="en-US"/>
              <a:t>- PyTorch, scikit-learn, Biopython 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1396</Words>
  <Application>WPS Presentation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Arial Black</vt:lpstr>
      <vt:lpstr>Agency FB</vt:lpstr>
      <vt:lpstr>Algerian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Pipeline for SNV Functional Impact Classification</dc:title>
  <dc:creator/>
  <cp:lastModifiedBy>PMYLS</cp:lastModifiedBy>
  <cp:revision>1</cp:revision>
  <dcterms:created xsi:type="dcterms:W3CDTF">2025-07-16T18:00:27Z</dcterms:created>
  <dcterms:modified xsi:type="dcterms:W3CDTF">2025-07-16T18:00:27Z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9A66F51F135E49C28B49013A02674089_11</vt:lpwstr>
  </property>
  <property fmtid="{D5CDD505-2E9C-101B-9397-08002B2CF9AE}" pid="3" name="KSOProductBuildVer">
    <vt:lpwstr>1033-12.2.0.21931</vt:lpwstr>
  </property>
</Properties>
</file>